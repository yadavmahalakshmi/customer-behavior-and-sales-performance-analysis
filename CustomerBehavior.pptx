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A07"/>
    <a:srgbClr val="E8E8E8"/>
    <a:srgbClr val="0E3A5D"/>
    <a:srgbClr val="1AA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768E2-4B2B-46EC-86E6-FF39F883C180}" v="465" dt="2025-12-08T06:48:45.174"/>
    <p1510:client id="{8E12735D-CFB3-7499-8524-48E2F7F76F77}" v="197" dt="2025-12-08T08:10:45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800D87-E823-0AAF-6295-5A626B7DDADB}"/>
              </a:ext>
            </a:extLst>
          </p:cNvPr>
          <p:cNvSpPr/>
          <p:nvPr/>
        </p:nvSpPr>
        <p:spPr>
          <a:xfrm>
            <a:off x="-2807" y="-2807"/>
            <a:ext cx="1521789" cy="6855789"/>
          </a:xfrm>
          <a:prstGeom prst="rect">
            <a:avLst/>
          </a:prstGeom>
          <a:solidFill>
            <a:srgbClr val="1AA6A0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4434" y="194711"/>
            <a:ext cx="9552609" cy="175812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600" b="1" dirty="0">
                <a:solidFill>
                  <a:srgbClr val="E8E8E8"/>
                </a:solidFill>
                <a:latin typeface="Segoe UI"/>
                <a:ea typeface="+mj-lt"/>
                <a:cs typeface="+mj-lt"/>
              </a:rPr>
              <a:t>Customer Behavior &amp; Sales Performance Analysis</a:t>
            </a:r>
            <a:endParaRPr lang="en-US" sz="5600" b="1">
              <a:solidFill>
                <a:srgbClr val="E8E8E8"/>
              </a:solidFill>
              <a:latin typeface="Segoe UI"/>
              <a:cs typeface="Segoe U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4435" y="1934473"/>
            <a:ext cx="9552608" cy="46154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Using Power BI – Insights for Data-Driven Marketing &amp; Growth Optimization</a:t>
            </a:r>
            <a:endParaRPr lang="en-US" sz="3200" b="1" i="1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endParaRPr lang="en-US" sz="3200" b="1" i="1" dirty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endParaRPr lang="en-US" sz="3200" i="1" dirty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endParaRPr lang="en-US" sz="3200" i="1" dirty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endParaRPr lang="en-US" sz="3200" i="1" dirty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endParaRPr lang="en-US" sz="3200" i="1" dirty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Segoe UI Semibold"/>
                <a:cs typeface="Segoe UI Semibold"/>
              </a:rPr>
              <a:t>Presented By | Mahalakshmi Yadav</a:t>
            </a:r>
            <a:endParaRPr lang="en-US" b="1" dirty="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pic>
        <p:nvPicPr>
          <p:cNvPr id="6" name="Picture 5" descr="A white graph with a arrow pointing up&#10;&#10;AI-generated content may be incorrect.">
            <a:extLst>
              <a:ext uri="{FF2B5EF4-FFF2-40B4-BE49-F238E27FC236}">
                <a16:creationId xmlns:a16="http://schemas.microsoft.com/office/drawing/2014/main" id="{9A9C388F-648E-A999-9385-158986AB8F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77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</a:extLst>
          </a:blip>
          <a:srcRect l="14186" t="14219" r="16279" b="13287"/>
          <a:stretch>
            <a:fillRect/>
          </a:stretch>
        </p:blipFill>
        <p:spPr>
          <a:xfrm>
            <a:off x="204304" y="196536"/>
            <a:ext cx="982877" cy="869416"/>
          </a:xfrm>
          <a:prstGeom prst="round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D502214-89D9-F632-9C8B-AB9D3FAED572}"/>
              </a:ext>
            </a:extLst>
          </p:cNvPr>
          <p:cNvCxnSpPr/>
          <p:nvPr/>
        </p:nvCxnSpPr>
        <p:spPr>
          <a:xfrm>
            <a:off x="1788967" y="1895010"/>
            <a:ext cx="9867901" cy="6724"/>
          </a:xfrm>
          <a:prstGeom prst="straightConnector1">
            <a:avLst/>
          </a:prstGeom>
          <a:ln>
            <a:solidFill>
              <a:srgbClr val="FAEA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9A944-772D-82D7-5159-20D3A2DE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0BFDCF-DB51-8E12-C761-38004FC475AA}"/>
              </a:ext>
            </a:extLst>
          </p:cNvPr>
          <p:cNvSpPr/>
          <p:nvPr/>
        </p:nvSpPr>
        <p:spPr>
          <a:xfrm>
            <a:off x="10665193" y="-2807"/>
            <a:ext cx="1521789" cy="6855789"/>
          </a:xfrm>
          <a:prstGeom prst="rect">
            <a:avLst/>
          </a:prstGeom>
          <a:solidFill>
            <a:srgbClr val="1AA6A0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A469E-84DB-5602-C906-9CFBEEA22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0669" y="93857"/>
            <a:ext cx="9137992" cy="97371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600" b="1" dirty="0">
                <a:solidFill>
                  <a:srgbClr val="E8E8E8"/>
                </a:solidFill>
                <a:latin typeface="Segoe UI"/>
                <a:cs typeface="Segoe UI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92586-87A1-4E09-E046-9EF858607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141" y="1172472"/>
            <a:ext cx="10146520" cy="545585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Understanding customer behavior and sales performance is essential for improving retention, strengthening marketing strategies, and driving sustainable revenue growth.</a:t>
            </a:r>
            <a:br>
              <a:rPr lang="en-US" sz="2500" dirty="0">
                <a:latin typeface="Segoe UI Semibold"/>
                <a:ea typeface="+mn-lt"/>
                <a:cs typeface="+mn-lt"/>
              </a:rPr>
            </a:br>
            <a:r>
              <a:rPr lang="en-US" sz="25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 However, businesses often face challenges such as:</a:t>
            </a:r>
            <a:endParaRPr lang="en-US" dirty="0">
              <a:solidFill>
                <a:schemeClr val="bg1"/>
              </a:solidFill>
              <a:latin typeface="Segoe UI Semibold"/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5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Identifying what factors influence customer purchases</a:t>
            </a:r>
            <a:endParaRPr lang="en-US" dirty="0">
              <a:solidFill>
                <a:schemeClr val="bg1"/>
              </a:solidFill>
              <a:latin typeface="Segoe UI Semibold"/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5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Determining which customer segments contribute most to sales</a:t>
            </a:r>
            <a:endParaRPr lang="en-US" dirty="0">
              <a:solidFill>
                <a:schemeClr val="bg1"/>
              </a:solidFill>
              <a:latin typeface="Segoe UI Semibold"/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5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Understanding the causes of churn or low engagement</a:t>
            </a:r>
            <a:endParaRPr lang="en-US" dirty="0">
              <a:solidFill>
                <a:schemeClr val="bg1"/>
              </a:solidFill>
              <a:latin typeface="Segoe UI Semibold"/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5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Measuring the impact of seasons, promotions, and product categories on revenue</a:t>
            </a:r>
            <a:endParaRPr lang="en-US" dirty="0">
              <a:solidFill>
                <a:schemeClr val="bg1"/>
              </a:solidFill>
              <a:latin typeface="Segoe UI Semibold"/>
              <a:ea typeface="+mn-lt"/>
              <a:cs typeface="+mn-lt"/>
            </a:endParaRPr>
          </a:p>
          <a:p>
            <a:pPr algn="l"/>
            <a:r>
              <a:rPr lang="en-US" sz="25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To address these challenges, this project develops an </a:t>
            </a:r>
            <a:r>
              <a:rPr lang="en-US" sz="2500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interactive Power BI dashboard</a:t>
            </a:r>
            <a:r>
              <a:rPr lang="en-US" sz="25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 that analyzes Sales Performance and Customer Behavior across multiple dimensions, enabling data-driven decision-making.</a:t>
            </a:r>
            <a:endParaRPr lang="en-US" dirty="0">
              <a:solidFill>
                <a:schemeClr val="bg1"/>
              </a:solidFill>
              <a:latin typeface="Segoe UI Semibold"/>
              <a:ea typeface="+mn-lt"/>
              <a:cs typeface="+mn-lt"/>
            </a:endParaRPr>
          </a:p>
          <a:p>
            <a:pPr algn="l"/>
            <a:endParaRPr lang="en-US" sz="2500" dirty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algn="l"/>
            <a:endParaRPr lang="en-US" sz="2500" dirty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endParaRPr lang="en-US" sz="3200" i="1" dirty="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pic>
        <p:nvPicPr>
          <p:cNvPr id="6" name="Picture 5" descr="A white graph with a arrow pointing up&#10;&#10;AI-generated content may be incorrect.">
            <a:extLst>
              <a:ext uri="{FF2B5EF4-FFF2-40B4-BE49-F238E27FC236}">
                <a16:creationId xmlns:a16="http://schemas.microsoft.com/office/drawing/2014/main" id="{DF5AEFCA-CA4D-369B-9C73-5B5E394E41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77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</a:extLst>
          </a:blip>
          <a:srcRect l="14186" t="14219" r="16279" b="13287"/>
          <a:stretch>
            <a:fillRect/>
          </a:stretch>
        </p:blipFill>
        <p:spPr>
          <a:xfrm>
            <a:off x="204304" y="196536"/>
            <a:ext cx="982877" cy="869416"/>
          </a:xfrm>
          <a:prstGeom prst="round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829B1E-2E08-A6F2-AC18-23AABCEF1459}"/>
              </a:ext>
            </a:extLst>
          </p:cNvPr>
          <p:cNvCxnSpPr/>
          <p:nvPr/>
        </p:nvCxnSpPr>
        <p:spPr>
          <a:xfrm>
            <a:off x="1531231" y="987333"/>
            <a:ext cx="8724902" cy="6724"/>
          </a:xfrm>
          <a:prstGeom prst="straightConnector1">
            <a:avLst/>
          </a:prstGeom>
          <a:ln>
            <a:solidFill>
              <a:srgbClr val="FAEA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40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CC7A3-7EEA-88E7-0534-714E93FD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5FC374-63FF-79DD-B356-D388BCA62A69}"/>
              </a:ext>
            </a:extLst>
          </p:cNvPr>
          <p:cNvSpPr/>
          <p:nvPr/>
        </p:nvSpPr>
        <p:spPr>
          <a:xfrm>
            <a:off x="-2807" y="-2807"/>
            <a:ext cx="1521789" cy="6855789"/>
          </a:xfrm>
          <a:prstGeom prst="rect">
            <a:avLst/>
          </a:prstGeom>
          <a:solidFill>
            <a:srgbClr val="1AA6A0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1AE27-C3AE-1E52-550D-B871D6217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2495" y="138031"/>
            <a:ext cx="9137992" cy="97371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600" b="1" dirty="0">
                <a:solidFill>
                  <a:srgbClr val="E8E8E8"/>
                </a:solidFill>
                <a:latin typeface="Segoe UI"/>
                <a:cs typeface="Segoe UI"/>
              </a:rPr>
              <a:t>Dataset Overview</a:t>
            </a:r>
          </a:p>
        </p:txBody>
      </p:sp>
      <p:pic>
        <p:nvPicPr>
          <p:cNvPr id="6" name="Picture 5" descr="A white graph with a arrow pointing up&#10;&#10;AI-generated content may be incorrect.">
            <a:extLst>
              <a:ext uri="{FF2B5EF4-FFF2-40B4-BE49-F238E27FC236}">
                <a16:creationId xmlns:a16="http://schemas.microsoft.com/office/drawing/2014/main" id="{46A9A4C1-12D5-AC98-9593-02EDD2E5C8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77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</a:extLst>
          </a:blip>
          <a:srcRect l="14186" t="14219" r="16279" b="13287"/>
          <a:stretch>
            <a:fillRect/>
          </a:stretch>
        </p:blipFill>
        <p:spPr>
          <a:xfrm>
            <a:off x="204304" y="196536"/>
            <a:ext cx="982877" cy="869416"/>
          </a:xfrm>
          <a:prstGeom prst="round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39963C-634F-F06B-A44A-F69278623D82}"/>
              </a:ext>
            </a:extLst>
          </p:cNvPr>
          <p:cNvSpPr/>
          <p:nvPr/>
        </p:nvSpPr>
        <p:spPr>
          <a:xfrm>
            <a:off x="1645041" y="1708394"/>
            <a:ext cx="10279266" cy="4856919"/>
          </a:xfrm>
          <a:prstGeom prst="roundRect">
            <a:avLst/>
          </a:prstGeom>
          <a:solidFill>
            <a:srgbClr val="E8E8E8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D2DC0D-F7D2-8B45-10AE-6DCD78A605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7" t="26570" r="815" b="14686"/>
          <a:stretch>
            <a:fillRect/>
          </a:stretch>
        </p:blipFill>
        <p:spPr>
          <a:xfrm>
            <a:off x="1819929" y="1822174"/>
            <a:ext cx="9963475" cy="4613934"/>
          </a:xfrm>
          <a:prstGeom prst="round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D9D116-DD8F-CFCC-805D-4883489DD660}"/>
              </a:ext>
            </a:extLst>
          </p:cNvPr>
          <p:cNvSpPr txBox="1"/>
          <p:nvPr/>
        </p:nvSpPr>
        <p:spPr>
          <a:xfrm>
            <a:off x="1821624" y="1062656"/>
            <a:ext cx="98331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The dataset contains a comprehensive mix of </a:t>
            </a: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transactional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demographic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product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, and </a:t>
            </a: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marketing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 information.</a:t>
            </a:r>
            <a:endParaRPr lang="en-US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F99FE6-62F3-0F62-CCEC-55067EE947F0}"/>
              </a:ext>
            </a:extLst>
          </p:cNvPr>
          <p:cNvCxnSpPr/>
          <p:nvPr/>
        </p:nvCxnSpPr>
        <p:spPr>
          <a:xfrm>
            <a:off x="2494937" y="998539"/>
            <a:ext cx="8724902" cy="6724"/>
          </a:xfrm>
          <a:prstGeom prst="straightConnector1">
            <a:avLst/>
          </a:prstGeom>
          <a:ln>
            <a:solidFill>
              <a:srgbClr val="FAEA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97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9389E-CA27-4681-35CA-614EA1E8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Single Corner Rounded 13">
            <a:extLst>
              <a:ext uri="{FF2B5EF4-FFF2-40B4-BE49-F238E27FC236}">
                <a16:creationId xmlns:a16="http://schemas.microsoft.com/office/drawing/2014/main" id="{A70B5D8A-3E29-BD65-25BF-35DB21B02549}"/>
              </a:ext>
            </a:extLst>
          </p:cNvPr>
          <p:cNvSpPr/>
          <p:nvPr/>
        </p:nvSpPr>
        <p:spPr>
          <a:xfrm>
            <a:off x="3478632" y="1260851"/>
            <a:ext cx="6853679" cy="2335114"/>
          </a:xfrm>
          <a:prstGeom prst="round1Rect">
            <a:avLst/>
          </a:prstGeom>
          <a:solidFill>
            <a:srgbClr val="E8E8E8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Single Corner Rounded 12">
            <a:extLst>
              <a:ext uri="{FF2B5EF4-FFF2-40B4-BE49-F238E27FC236}">
                <a16:creationId xmlns:a16="http://schemas.microsoft.com/office/drawing/2014/main" id="{8D19EE17-29A2-C03F-B885-8667D3E98E8D}"/>
              </a:ext>
            </a:extLst>
          </p:cNvPr>
          <p:cNvSpPr/>
          <p:nvPr/>
        </p:nvSpPr>
        <p:spPr>
          <a:xfrm>
            <a:off x="209763" y="3867112"/>
            <a:ext cx="6853679" cy="2335114"/>
          </a:xfrm>
          <a:prstGeom prst="round1Rect">
            <a:avLst/>
          </a:prstGeom>
          <a:solidFill>
            <a:srgbClr val="E8E8E8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C12409-6ABF-6E3D-DBE9-3908D0EE1DF1}"/>
              </a:ext>
            </a:extLst>
          </p:cNvPr>
          <p:cNvSpPr/>
          <p:nvPr/>
        </p:nvSpPr>
        <p:spPr>
          <a:xfrm>
            <a:off x="10665193" y="-2807"/>
            <a:ext cx="1521789" cy="6855789"/>
          </a:xfrm>
          <a:prstGeom prst="rect">
            <a:avLst/>
          </a:prstGeom>
          <a:solidFill>
            <a:srgbClr val="1AA6A0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A6A8C-B9F5-B569-34E4-989F0F51A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017" y="138031"/>
            <a:ext cx="9137992" cy="97371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600" b="1" dirty="0">
                <a:solidFill>
                  <a:srgbClr val="E8E8E8"/>
                </a:solidFill>
                <a:latin typeface="Segoe UI"/>
                <a:cs typeface="Segoe UI"/>
              </a:rPr>
              <a:t>Key KPIs</a:t>
            </a:r>
          </a:p>
        </p:txBody>
      </p:sp>
      <p:pic>
        <p:nvPicPr>
          <p:cNvPr id="6" name="Picture 5" descr="A white graph with a arrow pointing up&#10;&#10;AI-generated content may be incorrect.">
            <a:extLst>
              <a:ext uri="{FF2B5EF4-FFF2-40B4-BE49-F238E27FC236}">
                <a16:creationId xmlns:a16="http://schemas.microsoft.com/office/drawing/2014/main" id="{2217E094-2299-C2A8-4D52-2F22A5C0A0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77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</a:extLst>
          </a:blip>
          <a:srcRect l="14186" t="14219" r="16279" b="13287"/>
          <a:stretch>
            <a:fillRect/>
          </a:stretch>
        </p:blipFill>
        <p:spPr>
          <a:xfrm>
            <a:off x="204304" y="196536"/>
            <a:ext cx="982877" cy="869416"/>
          </a:xfrm>
          <a:prstGeom prst="round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8378D1-65B1-F7C7-478B-1F3F4D3200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81" r="52840" b="4167"/>
          <a:stretch>
            <a:fillRect/>
          </a:stretch>
        </p:blipFill>
        <p:spPr>
          <a:xfrm>
            <a:off x="385624" y="1257162"/>
            <a:ext cx="2781718" cy="23452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9D0BFF-75A3-3BF3-8811-7FC86B43DC9E}"/>
              </a:ext>
            </a:extLst>
          </p:cNvPr>
          <p:cNvSpPr txBox="1"/>
          <p:nvPr/>
        </p:nvSpPr>
        <p:spPr>
          <a:xfrm>
            <a:off x="3436392" y="1253128"/>
            <a:ext cx="6939721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>
                <a:solidFill>
                  <a:srgbClr val="0E3A5D"/>
                </a:solidFill>
                <a:latin typeface="Segoe UI Semibold"/>
                <a:cs typeface="Segoe UI Semibold"/>
              </a:rPr>
              <a:t>Customer Lifetime Value (CLV) — 22.74K</a:t>
            </a:r>
          </a:p>
          <a:p>
            <a:pPr algn="just"/>
            <a:r>
              <a:rPr lang="en-US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Customer Lifetime Value represents the total revenue a customer contributes over their entire relationship with the brand. An average CLV of </a:t>
            </a:r>
            <a:r>
              <a:rPr lang="en-US" b="1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22.74K</a:t>
            </a:r>
            <a:r>
              <a:rPr lang="en-US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 signifies a strong revenue stream driven by high-value segments. Notably, customers with </a:t>
            </a:r>
            <a:r>
              <a:rPr lang="en-US" b="1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Master’s and PhD education levels</a:t>
            </a:r>
            <a:r>
              <a:rPr lang="en-US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 have the highest CLV, indicating higher purchasing power and stronger engagement. Focusing on these segments can further maximize long-term growth.</a:t>
            </a:r>
            <a:endParaRPr lang="en-US">
              <a:solidFill>
                <a:srgbClr val="0E3A5D"/>
              </a:solidFill>
              <a:latin typeface="Segoe UI Semibold"/>
              <a:cs typeface="Segoe UI Semibold"/>
            </a:endParaRPr>
          </a:p>
          <a:p>
            <a:pPr algn="l"/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BF8B60-54A5-20D5-16F5-74B214C101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823" t="595" r="253" b="1338"/>
          <a:stretch>
            <a:fillRect/>
          </a:stretch>
        </p:blipFill>
        <p:spPr>
          <a:xfrm>
            <a:off x="7442407" y="3874466"/>
            <a:ext cx="2924991" cy="23384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685890-A4BF-0723-DF52-75895D3204C5}"/>
              </a:ext>
            </a:extLst>
          </p:cNvPr>
          <p:cNvSpPr txBox="1"/>
          <p:nvPr/>
        </p:nvSpPr>
        <p:spPr>
          <a:xfrm>
            <a:off x="209713" y="3883608"/>
            <a:ext cx="6862415" cy="2684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solidFill>
                  <a:srgbClr val="0E3A5D"/>
                </a:solidFill>
                <a:latin typeface="Segoe UI Semibold"/>
                <a:cs typeface="Segoe UI Semibold"/>
              </a:rPr>
              <a:t>Retention Rate — 50.03%</a:t>
            </a:r>
          </a:p>
          <a:p>
            <a:pPr algn="just"/>
            <a:r>
              <a:rPr lang="en-US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Retention rate reflects how consistently customers continue buying from the business. A retention rate of </a:t>
            </a:r>
            <a:r>
              <a:rPr lang="en-US" b="1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50.03%</a:t>
            </a:r>
            <a:r>
              <a:rPr lang="en-US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, with a slight positive improvement </a:t>
            </a:r>
            <a:r>
              <a:rPr lang="en-US" b="1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(+0.31%)</a:t>
            </a:r>
            <a:r>
              <a:rPr lang="en-US" dirty="0">
                <a:solidFill>
                  <a:srgbClr val="0E3A5D"/>
                </a:solidFill>
                <a:latin typeface="Segoe UI Semibold"/>
                <a:ea typeface="+mn-lt"/>
                <a:cs typeface="+mn-lt"/>
              </a:rPr>
              <a:t>, indicates moderate customer loyalty. This is a critical metric because retaining customers is far more cost-effective than acquiring new ones. Improving retention can significantly impact long-term profitability and strengthen brand loyalty.</a:t>
            </a:r>
            <a:endParaRPr lang="en-US">
              <a:solidFill>
                <a:srgbClr val="0E3A5D"/>
              </a:solidFill>
              <a:latin typeface="Segoe UI Semibold"/>
              <a:cs typeface="Segoe UI Semibold"/>
            </a:endParaRPr>
          </a:p>
          <a:p>
            <a:pPr algn="just"/>
            <a:endParaRPr lang="en-US" dirty="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2F3B7C-44FF-581B-F490-A607701CCE38}"/>
              </a:ext>
            </a:extLst>
          </p:cNvPr>
          <p:cNvCxnSpPr/>
          <p:nvPr/>
        </p:nvCxnSpPr>
        <p:spPr>
          <a:xfrm>
            <a:off x="1620878" y="1054568"/>
            <a:ext cx="8724902" cy="6724"/>
          </a:xfrm>
          <a:prstGeom prst="straightConnector1">
            <a:avLst/>
          </a:prstGeom>
          <a:ln>
            <a:solidFill>
              <a:srgbClr val="FAEA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76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B14F3-E3D1-E839-2823-6714C679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5D3C6E-C598-C1E5-655F-267D178AF803}"/>
              </a:ext>
            </a:extLst>
          </p:cNvPr>
          <p:cNvSpPr/>
          <p:nvPr/>
        </p:nvSpPr>
        <p:spPr>
          <a:xfrm>
            <a:off x="-2807" y="-2807"/>
            <a:ext cx="1521789" cy="6855789"/>
          </a:xfrm>
          <a:prstGeom prst="rect">
            <a:avLst/>
          </a:prstGeom>
          <a:solidFill>
            <a:srgbClr val="1AA6A0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350A5-E01B-60D7-6D39-6EAE05790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0929" y="193247"/>
            <a:ext cx="10098775" cy="8632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600" b="1" dirty="0">
                <a:solidFill>
                  <a:srgbClr val="E8E8E8"/>
                </a:solidFill>
                <a:latin typeface="Segoe UI"/>
                <a:cs typeface="Segoe UI"/>
              </a:rPr>
              <a:t>Power BI Dashboard</a:t>
            </a:r>
          </a:p>
        </p:txBody>
      </p:sp>
      <p:pic>
        <p:nvPicPr>
          <p:cNvPr id="6" name="Picture 5" descr="A white graph with a arrow pointing up&#10;&#10;AI-generated content may be incorrect.">
            <a:extLst>
              <a:ext uri="{FF2B5EF4-FFF2-40B4-BE49-F238E27FC236}">
                <a16:creationId xmlns:a16="http://schemas.microsoft.com/office/drawing/2014/main" id="{7F77A12B-3E62-DF25-DFBE-17328C6D0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77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</a:extLst>
          </a:blip>
          <a:srcRect l="14186" t="14219" r="16279" b="13287"/>
          <a:stretch>
            <a:fillRect/>
          </a:stretch>
        </p:blipFill>
        <p:spPr>
          <a:xfrm>
            <a:off x="204304" y="196536"/>
            <a:ext cx="982877" cy="869416"/>
          </a:xfrm>
          <a:prstGeom prst="roundRect">
            <a:avLst/>
          </a:prstGeom>
        </p:spPr>
      </p:pic>
      <p:pic>
        <p:nvPicPr>
          <p:cNvPr id="4" name="Picture 3" descr="A screenshot of a data presentation&#10;&#10;AI-generated content may be incorrect.">
            <a:extLst>
              <a:ext uri="{FF2B5EF4-FFF2-40B4-BE49-F238E27FC236}">
                <a16:creationId xmlns:a16="http://schemas.microsoft.com/office/drawing/2014/main" id="{A8A250AB-C3E4-3A90-D992-5E33C7E15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61" y="1192695"/>
            <a:ext cx="5581489" cy="323574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9A0156-B4CB-46DB-F1BC-89CD11176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310" y="3302000"/>
            <a:ext cx="6052861" cy="33793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728B73-3E8F-F7A8-A2E2-907559288A6B}"/>
              </a:ext>
            </a:extLst>
          </p:cNvPr>
          <p:cNvCxnSpPr/>
          <p:nvPr/>
        </p:nvCxnSpPr>
        <p:spPr>
          <a:xfrm flipV="1">
            <a:off x="2080320" y="1005262"/>
            <a:ext cx="9273989" cy="4482"/>
          </a:xfrm>
          <a:prstGeom prst="straightConnector1">
            <a:avLst/>
          </a:prstGeom>
          <a:ln>
            <a:solidFill>
              <a:srgbClr val="FAEA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20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CDF66-249B-2E79-C7AB-0E5593947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0C17B8-F030-BD93-DEF4-EE6EF8CDB945}"/>
              </a:ext>
            </a:extLst>
          </p:cNvPr>
          <p:cNvSpPr/>
          <p:nvPr/>
        </p:nvSpPr>
        <p:spPr>
          <a:xfrm>
            <a:off x="10665193" y="-2807"/>
            <a:ext cx="1521789" cy="6855789"/>
          </a:xfrm>
          <a:prstGeom prst="rect">
            <a:avLst/>
          </a:prstGeom>
          <a:solidFill>
            <a:srgbClr val="1AA6A0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33339-5D2A-8843-25F0-3ACE64919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712" y="193247"/>
            <a:ext cx="9137993" cy="8632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b="1" dirty="0">
                <a:solidFill>
                  <a:srgbClr val="E8E8E8"/>
                </a:solidFill>
                <a:latin typeface="Segoe UI"/>
                <a:ea typeface="+mj-lt"/>
                <a:cs typeface="+mj-lt"/>
              </a:rPr>
              <a:t>Business Insights &amp; Findings</a:t>
            </a:r>
            <a:endParaRPr lang="en-US" sz="5000" b="1">
              <a:latin typeface="Segoe UI"/>
              <a:cs typeface="Segoe UI Semibold"/>
            </a:endParaRPr>
          </a:p>
        </p:txBody>
      </p:sp>
      <p:pic>
        <p:nvPicPr>
          <p:cNvPr id="6" name="Picture 5" descr="A white graph with a arrow pointing up&#10;&#10;AI-generated content may be incorrect.">
            <a:extLst>
              <a:ext uri="{FF2B5EF4-FFF2-40B4-BE49-F238E27FC236}">
                <a16:creationId xmlns:a16="http://schemas.microsoft.com/office/drawing/2014/main" id="{8D6CE69B-A3FC-0086-6512-78561C15F3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77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</a:extLst>
          </a:blip>
          <a:srcRect l="14186" t="14219" r="16279" b="13287"/>
          <a:stretch>
            <a:fillRect/>
          </a:stretch>
        </p:blipFill>
        <p:spPr>
          <a:xfrm>
            <a:off x="204304" y="196536"/>
            <a:ext cx="982877" cy="869416"/>
          </a:xfrm>
          <a:prstGeom prst="roundRect">
            <a:avLst/>
          </a:prstGeom>
        </p:spPr>
      </p:pic>
      <p:sp>
        <p:nvSpPr>
          <p:cNvPr id="274" name="Arrow: Pentagon 273">
            <a:extLst>
              <a:ext uri="{FF2B5EF4-FFF2-40B4-BE49-F238E27FC236}">
                <a16:creationId xmlns:a16="http://schemas.microsoft.com/office/drawing/2014/main" id="{F6D1422A-B8B9-256A-6F61-C79FAAEAD338}"/>
              </a:ext>
            </a:extLst>
          </p:cNvPr>
          <p:cNvSpPr/>
          <p:nvPr/>
        </p:nvSpPr>
        <p:spPr>
          <a:xfrm rot="10800000">
            <a:off x="333762" y="1465699"/>
            <a:ext cx="10122406" cy="220741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Arrow: Pentagon 274">
            <a:extLst>
              <a:ext uri="{FF2B5EF4-FFF2-40B4-BE49-F238E27FC236}">
                <a16:creationId xmlns:a16="http://schemas.microsoft.com/office/drawing/2014/main" id="{A0A2FD87-71EC-2F59-9E67-49D52F5F0E8B}"/>
              </a:ext>
            </a:extLst>
          </p:cNvPr>
          <p:cNvSpPr/>
          <p:nvPr/>
        </p:nvSpPr>
        <p:spPr>
          <a:xfrm rot="10800000">
            <a:off x="333762" y="3928394"/>
            <a:ext cx="10122406" cy="220741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1B386FB-501C-2237-1843-48A3EA3545FF}"/>
              </a:ext>
            </a:extLst>
          </p:cNvPr>
          <p:cNvSpPr txBox="1"/>
          <p:nvPr/>
        </p:nvSpPr>
        <p:spPr>
          <a:xfrm>
            <a:off x="1697550" y="201497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8565F-9420-D699-93C4-387578F88916}"/>
              </a:ext>
            </a:extLst>
          </p:cNvPr>
          <p:cNvSpPr txBox="1"/>
          <p:nvPr/>
        </p:nvSpPr>
        <p:spPr>
          <a:xfrm>
            <a:off x="1475081" y="1461403"/>
            <a:ext cx="898487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Segoe UI Semibold"/>
                <a:cs typeface="Segoe UI Semibold"/>
              </a:rPr>
              <a:t>Sales Insights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Total Sales: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 5,056M with consistent month-to-month stability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Top Categories: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 Toys, Clothing, and Grocery show the highest contribution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City-wise Sales: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 All cities exhibit balanced performance (~25% share each)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Seasonal Impact: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 Winter and Fall seasons generate slightly higher revenue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Promotion Effectiveness:</a:t>
            </a:r>
            <a:r>
              <a:rPr lang="en-US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 Online and social media promotions drive strong engagement and conversions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CAC50-2A71-9654-C04A-AEE92F9F9BD0}"/>
              </a:ext>
            </a:extLst>
          </p:cNvPr>
          <p:cNvSpPr txBox="1"/>
          <p:nvPr/>
        </p:nvSpPr>
        <p:spPr>
          <a:xfrm>
            <a:off x="1477674" y="3923088"/>
            <a:ext cx="8940055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Segoe UI Semibold"/>
                <a:cs typeface="Segoe UI Semibold"/>
              </a:rPr>
              <a:t>Customer Behavior Insights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Retention Rate: ~50%, indicating moderate brand loyalty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Churn Rate: ~49.97%, highlighting a need for retention strategies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Income-Level Patterns: High-income customers purchase more frequently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CLV Segmentation: Customers with PhD and Master’s degrees show the highest CLV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Loyalty Membership: Members contribute higher sales and improved engagement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latin typeface="Segoe UI Semibold"/>
                <a:ea typeface="+mn-lt"/>
                <a:cs typeface="+mn-lt"/>
              </a:rPr>
              <a:t>Social Media Influence: Increased social media engagement is directly correlated with higher purchases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F2D304-ABF0-B6CF-998F-9010A1BBD6FF}"/>
              </a:ext>
            </a:extLst>
          </p:cNvPr>
          <p:cNvCxnSpPr/>
          <p:nvPr/>
        </p:nvCxnSpPr>
        <p:spPr>
          <a:xfrm>
            <a:off x="1486408" y="1099391"/>
            <a:ext cx="8982636" cy="6724"/>
          </a:xfrm>
          <a:prstGeom prst="straightConnector1">
            <a:avLst/>
          </a:prstGeom>
          <a:ln>
            <a:solidFill>
              <a:srgbClr val="FAEA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76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BAD77-6408-786B-4E51-EEF89AADB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F5AF26-2BD4-825B-F6A4-0E522E70454B}"/>
              </a:ext>
            </a:extLst>
          </p:cNvPr>
          <p:cNvSpPr/>
          <p:nvPr/>
        </p:nvSpPr>
        <p:spPr>
          <a:xfrm>
            <a:off x="-2807" y="-2807"/>
            <a:ext cx="1521789" cy="6855789"/>
          </a:xfrm>
          <a:prstGeom prst="rect">
            <a:avLst/>
          </a:prstGeom>
          <a:solidFill>
            <a:srgbClr val="1AA6A0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56A63B-1448-95D3-0870-2ED2BB49C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154" y="193247"/>
            <a:ext cx="10583550" cy="8632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800" b="1" dirty="0">
                <a:solidFill>
                  <a:srgbClr val="E8E8E8"/>
                </a:solidFill>
                <a:latin typeface="Segoe UI"/>
                <a:cs typeface="Segoe UI Semibold"/>
              </a:rPr>
              <a:t>Challenges &amp; Future Enhancements</a:t>
            </a:r>
          </a:p>
        </p:txBody>
      </p:sp>
      <p:pic>
        <p:nvPicPr>
          <p:cNvPr id="6" name="Picture 5" descr="A white graph with a arrow pointing up&#10;&#10;AI-generated content may be incorrect.">
            <a:extLst>
              <a:ext uri="{FF2B5EF4-FFF2-40B4-BE49-F238E27FC236}">
                <a16:creationId xmlns:a16="http://schemas.microsoft.com/office/drawing/2014/main" id="{44291017-6B03-3EEE-4AE9-FE806F9DAE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77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</a:extLst>
          </a:blip>
          <a:srcRect l="14186" t="14219" r="16279" b="13287"/>
          <a:stretch>
            <a:fillRect/>
          </a:stretch>
        </p:blipFill>
        <p:spPr>
          <a:xfrm>
            <a:off x="204304" y="196536"/>
            <a:ext cx="982877" cy="869416"/>
          </a:xfrm>
          <a:prstGeom prst="roundRect">
            <a:avLst/>
          </a:prstGeom>
        </p:spPr>
      </p:pic>
      <p:sp>
        <p:nvSpPr>
          <p:cNvPr id="276" name="TextBox 275">
            <a:extLst>
              <a:ext uri="{FF2B5EF4-FFF2-40B4-BE49-F238E27FC236}">
                <a16:creationId xmlns:a16="http://schemas.microsoft.com/office/drawing/2014/main" id="{EB6F0B20-2B55-2235-0FDB-B25D2AAB3826}"/>
              </a:ext>
            </a:extLst>
          </p:cNvPr>
          <p:cNvSpPr txBox="1"/>
          <p:nvPr/>
        </p:nvSpPr>
        <p:spPr>
          <a:xfrm>
            <a:off x="1697550" y="201497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A8960751-3FA6-508B-B03C-AC02B5F820F9}"/>
              </a:ext>
            </a:extLst>
          </p:cNvPr>
          <p:cNvSpPr/>
          <p:nvPr/>
        </p:nvSpPr>
        <p:spPr>
          <a:xfrm>
            <a:off x="1694373" y="1059395"/>
            <a:ext cx="10148853" cy="2831414"/>
          </a:xfrm>
          <a:prstGeom prst="horizontalScroll">
            <a:avLst/>
          </a:prstGeom>
          <a:solidFill>
            <a:srgbClr val="1AA6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Segoe UI Semibold"/>
                <a:cs typeface="Segoe UI Semibold"/>
              </a:rPr>
              <a:t>Challenges</a:t>
            </a:r>
            <a:endParaRPr lang="en-US" sz="2400" dirty="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Segoe UI Semibold"/>
                <a:ea typeface="+mn-lt"/>
                <a:cs typeface="+mn-lt"/>
              </a:rPr>
              <a:t>Data cleaning required due to missing or inconsistent values</a:t>
            </a:r>
            <a:endParaRPr lang="en-US" sz="2400" dirty="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Segoe UI Semibold"/>
                <a:ea typeface="+mn-lt"/>
                <a:cs typeface="+mn-lt"/>
              </a:rPr>
              <a:t>Merging multiple datasets with varying formats</a:t>
            </a:r>
            <a:endParaRPr lang="en-US" sz="2400" dirty="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Segoe UI Semibold"/>
                <a:ea typeface="+mn-lt"/>
                <a:cs typeface="+mn-lt"/>
              </a:rPr>
              <a:t>Visualizing complex, multi-dimensional metrics effectively</a:t>
            </a:r>
            <a:endParaRPr lang="en-US" sz="2400" dirty="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Segoe UI Semibold"/>
                <a:ea typeface="+mn-lt"/>
                <a:cs typeface="+mn-lt"/>
              </a:rPr>
              <a:t>Limited customer history affecting deeper behavioral analysis</a:t>
            </a:r>
            <a:endParaRPr lang="en-US" sz="2400" dirty="0">
              <a:latin typeface="Segoe UI Semibold"/>
              <a:cs typeface="Segoe UI Semibold"/>
            </a:endParaRPr>
          </a:p>
        </p:txBody>
      </p:sp>
      <p:sp>
        <p:nvSpPr>
          <p:cNvPr id="9" name="Flowchart: Off-page Connector 6">
            <a:extLst>
              <a:ext uri="{FF2B5EF4-FFF2-40B4-BE49-F238E27FC236}">
                <a16:creationId xmlns:a16="http://schemas.microsoft.com/office/drawing/2014/main" id="{D1C8801D-3B29-FEF6-F9E3-6C1623BA9033}"/>
              </a:ext>
            </a:extLst>
          </p:cNvPr>
          <p:cNvSpPr/>
          <p:nvPr/>
        </p:nvSpPr>
        <p:spPr>
          <a:xfrm>
            <a:off x="1694373" y="3883277"/>
            <a:ext cx="10148853" cy="2797797"/>
          </a:xfrm>
          <a:prstGeom prst="horizontalScroll">
            <a:avLst/>
          </a:prstGeom>
          <a:solidFill>
            <a:srgbClr val="1AA6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300" b="1" dirty="0">
                <a:latin typeface="Segoe UI Semibold"/>
                <a:cs typeface="Segoe UI Semibold"/>
              </a:rPr>
              <a:t>Future Enhancements</a:t>
            </a:r>
            <a:endParaRPr lang="en-US" sz="230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latin typeface="Segoe UI Semibold"/>
                <a:ea typeface="+mn-lt"/>
                <a:cs typeface="+mn-lt"/>
              </a:rPr>
              <a:t>Implement predictive models for </a:t>
            </a:r>
            <a:r>
              <a:rPr lang="en-US" sz="2300" b="1" dirty="0">
                <a:latin typeface="Segoe UI Semibold"/>
                <a:ea typeface="+mn-lt"/>
                <a:cs typeface="+mn-lt"/>
              </a:rPr>
              <a:t>churn prediction</a:t>
            </a:r>
            <a:r>
              <a:rPr lang="en-US" sz="2300" dirty="0">
                <a:latin typeface="Segoe UI Semibold"/>
                <a:ea typeface="+mn-lt"/>
                <a:cs typeface="+mn-lt"/>
              </a:rPr>
              <a:t> and </a:t>
            </a:r>
            <a:r>
              <a:rPr lang="en-US" sz="2300" b="1" dirty="0">
                <a:latin typeface="Segoe UI Semibold"/>
                <a:ea typeface="+mn-lt"/>
                <a:cs typeface="+mn-lt"/>
              </a:rPr>
              <a:t>sales forecasting</a:t>
            </a:r>
            <a:endParaRPr lang="en-US" sz="230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latin typeface="Segoe UI Semibold"/>
                <a:ea typeface="+mn-lt"/>
                <a:cs typeface="+mn-lt"/>
              </a:rPr>
              <a:t>Add </a:t>
            </a:r>
            <a:r>
              <a:rPr lang="en-US" sz="2300" b="1" dirty="0">
                <a:latin typeface="Segoe UI Semibold"/>
                <a:ea typeface="+mn-lt"/>
                <a:cs typeface="+mn-lt"/>
              </a:rPr>
              <a:t>AI-based customer segmentation</a:t>
            </a:r>
            <a:r>
              <a:rPr lang="en-US" sz="2300" dirty="0">
                <a:latin typeface="Segoe UI Semibold"/>
                <a:ea typeface="+mn-lt"/>
                <a:cs typeface="+mn-lt"/>
              </a:rPr>
              <a:t> (e.g., K-Means clustering)</a:t>
            </a:r>
            <a:endParaRPr lang="en-US" sz="230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latin typeface="Segoe UI Semibold"/>
                <a:ea typeface="+mn-lt"/>
                <a:cs typeface="+mn-lt"/>
              </a:rPr>
              <a:t>Enable real-time dashboard updates using </a:t>
            </a:r>
            <a:r>
              <a:rPr lang="en-US" sz="2300" b="1" dirty="0">
                <a:latin typeface="Segoe UI Semibold"/>
                <a:ea typeface="+mn-lt"/>
                <a:cs typeface="+mn-lt"/>
              </a:rPr>
              <a:t>APIs</a:t>
            </a:r>
            <a:endParaRPr lang="en-US" sz="230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latin typeface="Segoe UI Semibold"/>
                <a:ea typeface="+mn-lt"/>
                <a:cs typeface="+mn-lt"/>
              </a:rPr>
              <a:t>Develop personalized recommendations for each customer segment</a:t>
            </a:r>
            <a:endParaRPr lang="en-US" sz="2300">
              <a:latin typeface="Segoe UI Semibold"/>
              <a:cs typeface="Segoe UI Semibold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D098F9-D8A6-C00C-24AC-8BE984421D8D}"/>
              </a:ext>
            </a:extLst>
          </p:cNvPr>
          <p:cNvCxnSpPr/>
          <p:nvPr/>
        </p:nvCxnSpPr>
        <p:spPr>
          <a:xfrm>
            <a:off x="1520026" y="987333"/>
            <a:ext cx="10473018" cy="17929"/>
          </a:xfrm>
          <a:prstGeom prst="straightConnector1">
            <a:avLst/>
          </a:prstGeom>
          <a:ln>
            <a:solidFill>
              <a:srgbClr val="FAEA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69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8843A-34E2-CAF9-5CEC-0D7917E6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2D1A4-D594-AF4D-72A9-41164563E81E}"/>
              </a:ext>
            </a:extLst>
          </p:cNvPr>
          <p:cNvSpPr/>
          <p:nvPr/>
        </p:nvSpPr>
        <p:spPr>
          <a:xfrm>
            <a:off x="10665193" y="-2807"/>
            <a:ext cx="1521789" cy="6855789"/>
          </a:xfrm>
          <a:prstGeom prst="rect">
            <a:avLst/>
          </a:prstGeom>
          <a:solidFill>
            <a:srgbClr val="1AA6A0"/>
          </a:solidFill>
          <a:ln>
            <a:solidFill>
              <a:srgbClr val="1A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C847-B746-B2A0-9863-B43AF41E6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095" y="193247"/>
            <a:ext cx="9194021" cy="8632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800" b="1" dirty="0">
                <a:solidFill>
                  <a:srgbClr val="E8E8E8"/>
                </a:solidFill>
                <a:latin typeface="Segoe UI"/>
                <a:cs typeface="Segoe UI Semibold"/>
              </a:rPr>
              <a:t>Conclusion</a:t>
            </a:r>
          </a:p>
        </p:txBody>
      </p:sp>
      <p:pic>
        <p:nvPicPr>
          <p:cNvPr id="6" name="Picture 5" descr="A white graph with a arrow pointing up&#10;&#10;AI-generated content may be incorrect.">
            <a:extLst>
              <a:ext uri="{FF2B5EF4-FFF2-40B4-BE49-F238E27FC236}">
                <a16:creationId xmlns:a16="http://schemas.microsoft.com/office/drawing/2014/main" id="{AB8ECB69-E840-B989-2847-FC8936A766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77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</a:extLst>
          </a:blip>
          <a:srcRect l="14186" t="14219" r="16279" b="13287"/>
          <a:stretch>
            <a:fillRect/>
          </a:stretch>
        </p:blipFill>
        <p:spPr>
          <a:xfrm>
            <a:off x="204304" y="196536"/>
            <a:ext cx="982877" cy="869416"/>
          </a:xfrm>
          <a:prstGeom prst="roundRect">
            <a:avLst/>
          </a:prstGeom>
        </p:spPr>
      </p:pic>
      <p:sp>
        <p:nvSpPr>
          <p:cNvPr id="276" name="TextBox 275">
            <a:extLst>
              <a:ext uri="{FF2B5EF4-FFF2-40B4-BE49-F238E27FC236}">
                <a16:creationId xmlns:a16="http://schemas.microsoft.com/office/drawing/2014/main" id="{D08B9D30-46F9-38E5-5B6B-6121E2647969}"/>
              </a:ext>
            </a:extLst>
          </p:cNvPr>
          <p:cNvSpPr txBox="1"/>
          <p:nvPr/>
        </p:nvSpPr>
        <p:spPr>
          <a:xfrm>
            <a:off x="1697550" y="201497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A445F0-698B-1A5F-855C-EC76FA7DFF13}"/>
              </a:ext>
            </a:extLst>
          </p:cNvPr>
          <p:cNvSpPr/>
          <p:nvPr/>
        </p:nvSpPr>
        <p:spPr>
          <a:xfrm>
            <a:off x="1195881" y="1472486"/>
            <a:ext cx="8852091" cy="3108301"/>
          </a:xfrm>
          <a:prstGeom prst="roundRect">
            <a:avLst/>
          </a:prstGeom>
          <a:ln>
            <a:solidFill>
              <a:srgbClr val="0E3A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dirty="0">
                <a:latin typeface="Segoe UI Semibold"/>
                <a:ea typeface="+mn-lt"/>
                <a:cs typeface="+mn-lt"/>
              </a:rPr>
              <a:t>This project provides a comprehensive analysis of customer behavior and sales performance using advanced Power BI visualizations.</a:t>
            </a:r>
            <a:br>
              <a:rPr lang="en-US" sz="2000" dirty="0">
                <a:latin typeface="Segoe UI Semibold"/>
                <a:ea typeface="+mn-lt"/>
                <a:cs typeface="+mn-lt"/>
              </a:rPr>
            </a:br>
            <a:r>
              <a:rPr lang="en-US" sz="2000" dirty="0">
                <a:latin typeface="Segoe UI Semibold"/>
                <a:ea typeface="+mn-lt"/>
                <a:cs typeface="+mn-lt"/>
              </a:rPr>
              <a:t> The insights obtained can help businesses:</a:t>
            </a:r>
            <a:endParaRPr lang="en-US" sz="200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Segoe UI Semibold"/>
                <a:ea typeface="+mn-lt"/>
                <a:cs typeface="+mn-lt"/>
              </a:rPr>
              <a:t>Improve customer retention</a:t>
            </a:r>
            <a:endParaRPr lang="en-US" sz="200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Segoe UI Semibold"/>
                <a:ea typeface="+mn-lt"/>
                <a:cs typeface="+mn-lt"/>
              </a:rPr>
              <a:t>Optimize promotional strategies</a:t>
            </a:r>
            <a:endParaRPr lang="en-US" sz="200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Segoe UI Semibold"/>
                <a:ea typeface="+mn-lt"/>
                <a:cs typeface="+mn-lt"/>
              </a:rPr>
              <a:t>Enhance customer experience</a:t>
            </a:r>
            <a:endParaRPr lang="en-US" sz="2000">
              <a:latin typeface="Segoe UI Semibold"/>
              <a:cs typeface="Segoe UI Semibold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Segoe UI Semibold"/>
                <a:ea typeface="+mn-lt"/>
                <a:cs typeface="+mn-lt"/>
              </a:rPr>
              <a:t>Drive sustainable revenue growth</a:t>
            </a:r>
            <a:endParaRPr lang="en-US" sz="2000">
              <a:latin typeface="Segoe UI Semibold"/>
              <a:cs typeface="Segoe UI Semibold"/>
            </a:endParaRPr>
          </a:p>
          <a:p>
            <a:r>
              <a:rPr lang="en-US" sz="2000" dirty="0">
                <a:latin typeface="Segoe UI Semibold"/>
                <a:ea typeface="+mn-lt"/>
                <a:cs typeface="+mn-lt"/>
              </a:rPr>
              <a:t>Overall, the dashboard serves as a powerful decision-support tool for marketing, sales, and management teams.</a:t>
            </a:r>
            <a:endParaRPr lang="en-US" sz="2000">
              <a:latin typeface="Segoe UI Semibold"/>
              <a:cs typeface="Segoe UI Semibold"/>
            </a:endParaRP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2299696E-6E03-AA6B-736D-456E6FA61414}"/>
              </a:ext>
            </a:extLst>
          </p:cNvPr>
          <p:cNvSpPr/>
          <p:nvPr/>
        </p:nvSpPr>
        <p:spPr>
          <a:xfrm>
            <a:off x="3178985" y="5380003"/>
            <a:ext cx="5837916" cy="1054785"/>
          </a:xfrm>
          <a:prstGeom prst="flowChartTerminator">
            <a:avLst/>
          </a:prstGeom>
          <a:solidFill>
            <a:srgbClr val="1AA6A0"/>
          </a:solidFill>
          <a:ln>
            <a:solidFill>
              <a:srgbClr val="0E3A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latin typeface="Segoe UI Semibold"/>
                <a:ea typeface="+mn-lt"/>
                <a:cs typeface="+mn-lt"/>
              </a:rPr>
              <a:t>Thank you!!!</a:t>
            </a:r>
            <a:endParaRPr lang="en-US" sz="5600" b="1" dirty="0">
              <a:latin typeface="Segoe UI Semibold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0B7501-A6B0-B833-12D6-258C00F7D23B}"/>
              </a:ext>
            </a:extLst>
          </p:cNvPr>
          <p:cNvCxnSpPr/>
          <p:nvPr/>
        </p:nvCxnSpPr>
        <p:spPr>
          <a:xfrm>
            <a:off x="2584584" y="987333"/>
            <a:ext cx="6618197" cy="6724"/>
          </a:xfrm>
          <a:prstGeom prst="straightConnector1">
            <a:avLst/>
          </a:prstGeom>
          <a:ln>
            <a:solidFill>
              <a:srgbClr val="FAEA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53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548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Segoe UI Semibold</vt:lpstr>
      <vt:lpstr>office theme</vt:lpstr>
      <vt:lpstr>Customer Behavior &amp; Sales Performance Analysis</vt:lpstr>
      <vt:lpstr>Introduction</vt:lpstr>
      <vt:lpstr>Dataset Overview</vt:lpstr>
      <vt:lpstr>Key KPIs</vt:lpstr>
      <vt:lpstr>Power BI Dashboard</vt:lpstr>
      <vt:lpstr>Business Insights &amp; Findings</vt:lpstr>
      <vt:lpstr>Challenges &amp; 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Mahalakshmi Yadav</cp:lastModifiedBy>
  <cp:revision>452</cp:revision>
  <dcterms:created xsi:type="dcterms:W3CDTF">2025-12-08T04:44:24Z</dcterms:created>
  <dcterms:modified xsi:type="dcterms:W3CDTF">2025-12-08T08:14:22Z</dcterms:modified>
</cp:coreProperties>
</file>